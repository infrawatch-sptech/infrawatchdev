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E6394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INFRAWATCH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inteligente para a infraestrutura que sustenta o Pix e os pagamentos do Brasil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proativa de falhas  •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ao ITIL 4  •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o rigor regulatório do BCB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SPTech — Ciência da Computação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Brasil já não pode se dar ao luxo de um Pix instável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2025, o volume de pagamentos instantâneos bateu recordes históricos — e continua crescendo.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231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bi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Pix em 2025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251960"/>
            <a:ext cx="91440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389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+25,7% vs. 2024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33672" y="214884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62272" y="24231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R$ 35 tri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462272" y="3429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movimentados via Pix em 2025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62272" y="4251960"/>
            <a:ext cx="91440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4389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+33,8% em volume financeiro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18704" y="214884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47304" y="24231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313,3 mi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147304" y="3429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em um único dia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47304" y="4251960"/>
            <a:ext cx="91440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47304" y="4389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05/12/2025 · R$179,9 bi em 24h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Relatório de Gestão do Pix (BCB), 2ª edição — 2026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REAL, NÃO HIPOTÉTICO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um elo falha, o impacto se espalha em minutos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JAN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947672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81965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no DICT (BCB)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926080" y="2203704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minutos de indisponibilidade (14h31–15h10) atingiram Itaú, Bradesco, BB, Caixa, Nubank, Santander, Inter e C6 — mais de 6 mil relatos no Downdetector em ~20 min.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55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MAR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342900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3300984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Instabilidade no Banco do Brasil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926080" y="3685032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reconhecida publicamente pela instituição, propagada por toda a cadeia bancária, afetando clientes durante a manhã.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37176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371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FEV–MAR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06040" y="4910328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478231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recorrentes no ecossistema Pix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926080" y="516636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Episódios semelhantes reforçam um padrão: a origem pode ser um único elo, mas o usuário final sente o sistema inteiro falhar.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Convergência Digital; IBSEC; ND Mais —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REGULATÓRIA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99,9% de disponibilidade não é meta. É lei.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Resolução BCB nº 195 exige esse índice mínimo dos participantes do SPI — e a Resolução nº 507/2025 prevê penalidades por falhas de monitoramento.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3A4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803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8h46min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toda a indisponibilidade tolerada por ano, em um sistema que opera 24h por dia, 365 dias por ano, sem janelas de manutenção.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606040"/>
            <a:ext cx="5212080" cy="1536192"/>
          </a:xfrm>
          <a:prstGeom prst="roundRect">
            <a:avLst>
              <a:gd name="adj" fmla="val 7143"/>
            </a:avLst>
          </a:prstGeom>
          <a:solidFill>
            <a:srgbClr val="252E6E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788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75120" y="34290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compensação de boletos no mesmo dia (Febraban, 136 instituições) — qualquer atraso na grade de processamento gera cobrança duplicada ou juros indevidos.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4343400"/>
            <a:ext cx="5212080" cy="1554480"/>
          </a:xfrm>
          <a:prstGeom prst="roundRect">
            <a:avLst>
              <a:gd name="adj" fmla="val 7059"/>
            </a:avLst>
          </a:prstGeom>
          <a:solidFill>
            <a:srgbClr val="252E6E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MTTR ↓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75120" y="51663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tempo sem identificar a causa raiz, maior a janela de exposição a falhas em cascata e à perda de confiança do cliente.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LACUNA ATUAL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Bancos ainda reagem — em vez de antecipar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sinais precoces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identificar, de forma proativa, os primeiros sinais de degradação antes que o problema chegue ao usuário final.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fragmentada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participante depende da própria infraestrutura e de integrações externas (DICT, SPI) — sem correlação entre elas, o diagnóstico é lento.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elevado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6118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processos alinhados ao ITIL para Gerenciamento de Incidentes e Problemas, o tempo médio de resolução cresce — e com ele, o risco.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InfraWatch: visibilidade total, das cinco camadas críticas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aplicação web que acompanha, em tempo real, a saúde e o desempenho dos servidores de processamento de transações — do núcleo bancário às integrações externas.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3172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bancário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74420" y="3118104"/>
            <a:ext cx="10104120" cy="621792"/>
          </a:xfrm>
          <a:prstGeom prst="roundRect">
            <a:avLst>
              <a:gd name="adj" fmla="val 11765"/>
            </a:avLst>
          </a:prstGeom>
          <a:solidFill>
            <a:srgbClr val="24316E"/>
          </a:solidFill>
          <a:ln/>
        </p:spPr>
      </p:sp>
      <p:sp>
        <p:nvSpPr>
          <p:cNvPr id="8" name="Text 6"/>
          <p:cNvSpPr/>
          <p:nvPr/>
        </p:nvSpPr>
        <p:spPr>
          <a:xfrm>
            <a:off x="1348740" y="3118104"/>
            <a:ext cx="9555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digitais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3904488"/>
            <a:ext cx="9601200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3904488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transações (Pix / boleto)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509760" y="4014216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0" y="401421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77340" y="4690872"/>
            <a:ext cx="9098280" cy="621792"/>
          </a:xfrm>
          <a:prstGeom prst="roundRect">
            <a:avLst>
              <a:gd name="adj" fmla="val 11765"/>
            </a:avLst>
          </a:prstGeom>
          <a:solidFill>
            <a:srgbClr val="3A448C"/>
          </a:solidFill>
          <a:ln/>
        </p:spPr>
      </p:sp>
      <p:sp>
        <p:nvSpPr>
          <p:cNvPr id="14" name="Text 12"/>
          <p:cNvSpPr/>
          <p:nvPr/>
        </p:nvSpPr>
        <p:spPr>
          <a:xfrm>
            <a:off x="1851660" y="4690872"/>
            <a:ext cx="8549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5477256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5C67B0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5477256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/ API (DICT, SPI)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simulado de banco/fintech, com fluxos reais de transações Pix e boleto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incidente é o sintoma. O problema é a causa raiz.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estrutura a resposta a falhas sobre as duas práticas centrais do ITIL 4.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Management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697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o incêndio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3319272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1729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 a operação normal o mais rápido possível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397764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383133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por Impacto × Urgência (P1 a P4)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" y="4636008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48970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crítico: resolução em até 4h dentro do SLA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" y="5294376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51480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MTTD e o MTTR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205740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69480" y="2331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Management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2697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 por que começou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11112" y="331927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830568" y="31729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e elimina a causa raiz de incidentes recorrentes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11112" y="397764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30568" y="383133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erros conhecidos (known errors)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11112" y="463600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830568" y="448970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pós-incidente conjuntas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11112" y="529437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830568" y="51480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a mesma falha volte a ocorrer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EQUIPE VÊ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que antecipam o problema, não que o registram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671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 por transação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1671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17720" y="27432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processado por segundo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1671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erro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12480" y="27432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transações falhas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41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de fila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pendentes de processamento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041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externa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617720" y="4617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 DICT e SPI em tempo real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041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/ MTTD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412480" y="4617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diagnóstico e resolução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antes, e não apagar incêndio depois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91109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em alta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87452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bilhões de transações Pix em 2025 e crescimento de 25,7% ao ano — a escala só aumenta a exposição ao risco.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2369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rígida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320040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99,9% de disponibilidade exigida (Res. BCB 195) e penalidades por falhas de monitoramento (Res. BCB 507/2025).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56285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cotidiano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452628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das transações Pix são de até R$100 — uma falha não afeta só grandes transferências, afeta o dia a dia do comércio.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manter o Pix de pé.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58368" y="3246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transforma monitoramento reativo em vantagem competitiva: menos incidentes, menor MTTR e conformidade regulatória construída desde a arquitetura.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389120"/>
            <a:ext cx="2834640" cy="594360"/>
          </a:xfrm>
          <a:prstGeom prst="roundRect">
            <a:avLst>
              <a:gd name="adj" fmla="val 49231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3891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conversar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InfraWatch  |  SPTech — Ciência da Computação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2026-08-11T20:38:44Z</dcterms:created>
  <dcterms:modified xsi:type="dcterms:W3CDTF">2026-08-11T20:38:44Z</dcterms:modified>
</cp:coreProperties>
</file>